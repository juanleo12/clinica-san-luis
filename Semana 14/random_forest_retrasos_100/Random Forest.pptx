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4" r:id="rId23"/>
    <p:sldId id="278" r:id="rId24"/>
    <p:sldId id="279" r:id="rId2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B9232-3FB9-40B8-97E2-EAE36015C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DEBB5B-E750-46E6-8539-6810ECE73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6B1D27-A40A-4E48-9E1C-5BA115AB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0CCC13-CCE1-44FC-88F0-00E677FF3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254DB2-2E92-46E8-AA7B-13EE8528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292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986AE-1C92-4EBD-BD2E-76A668BD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ABA93C-8F4B-4A04-BA51-1D40D15A7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D16884-5105-4C59-9775-4E8262D6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9C9AFC-41F2-4277-A1A4-615A905B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6597D8-79CB-4AB7-A6F9-B7BB1048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628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B320F-2978-4162-9DDC-1E5DF274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8F50D0-3F2E-40E3-868A-C1C4663A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12AC50-6E8C-473A-8EDF-D3C21861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CA1171-16BE-40B9-B804-832EF65B6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02AA2-2763-4977-8373-60C93291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388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98113-E4EB-45E3-BFDB-D9CFC2F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6CB43-D8EE-436E-A5BC-137BF0B66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934697-EF42-4D87-9644-D7F53A3B9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6F7793-DE65-43B7-87B3-04F7A096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98572B-D6C6-4413-9A26-AC7507479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488EFF-865F-4939-8398-5EB07BD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197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3E2EA-5160-43D6-BBC2-E43FEB27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C8F771-E02D-41D3-A27E-12358FA53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EFDC33-7A38-479D-8628-90576E62D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002E16-CB72-43E0-88F7-B59FFB72A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652034-4F9B-4D4A-BF8A-EE3A91BA1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204F4F0-5D51-436A-B04C-E483E22F9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58A93A-9E47-4BF2-9C79-9A645EA8E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129625-4343-4916-9A2F-154BFA20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4766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94CD3-54C8-472F-B01A-E6413C65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B3F88C-03C7-4552-9A7D-DB7175E9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285305-E550-4365-9027-B845C081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B881ED-B89A-4578-A730-7B958C1A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8725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807839-4FF1-439F-856F-5D0A9F28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7E1596-784F-4D9C-9892-BA29095C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035F02-ACAC-49EC-8700-3A235CEB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161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3D4B6-CEAA-4494-A078-4362971B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DB170D-3F74-4D9A-8362-89E609276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956787-6C33-4EC7-BE9B-C7DDE14FE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78F958-F4E5-4E89-90E8-FCD25467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4F819D-2F07-475F-AC9F-DAECFCFA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471A43-F7F6-4BD1-B89F-E474441B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337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F05E8-598E-497C-B041-7AA358FF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9D0D86-E2DD-4452-A0A8-CBCD2E20A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571BBD-3BBB-403A-846A-2A06FBF78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D05A76-270E-45D7-A349-030CBB24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90247-32EC-4AA3-8B81-5852C46C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59C5CA-768D-4547-8C93-F48C13FD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19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5EFEA-D001-47FD-B601-4F00B5F5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F18C06-8DA4-4238-BE8F-C00C40CAA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35831-167E-40FB-A66A-5E5E769B5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A0F6B0-696F-468D-AB22-41FFF8F9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906A30-D781-4D36-8111-64351E2E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865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03177A-6D8C-411B-B223-772C7A3A6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DDEFE5-34BA-4D0F-A1DD-FDB081965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10A7D-ADE4-45A0-AC52-914F29F5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D8344-A841-4DFC-9683-C599EC3F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C475BC-6FDD-4107-90CA-CBD3EE81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025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053327-F728-41CB-86B3-6AB58E2D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D9CFE2-0653-4E20-A8AF-5EC25A2F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83B80C-103D-4906-B608-60DF62F22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53C45-C352-4F57-AC21-21D4F1408645}" type="datetimeFigureOut">
              <a:rPr lang="es-PE" smtClean="0"/>
              <a:t>25/06/2026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429442-1FB1-47BA-8346-2C0DB69EF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865587-29A9-4887-837A-038E6FA47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93F26-5585-4006-AE7A-065DB5A53C3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82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12291-F9A1-4C79-B332-E615A8A42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/>
              <a:t>Random</a:t>
            </a:r>
            <a:r>
              <a:rPr lang="es-PE" dirty="0"/>
              <a:t> Forest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04F858-C965-4F54-8403-2419343E9C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Magister Víctor Andrade Soto</a:t>
            </a:r>
          </a:p>
        </p:txBody>
      </p:sp>
    </p:spTree>
    <p:extLst>
      <p:ext uri="{BB962C8B-B14F-4D97-AF65-F5344CB8AC3E}">
        <p14:creationId xmlns:p14="http://schemas.microsoft.com/office/powerpoint/2010/main" val="414650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1BF73-E4F5-4F27-A304-3B1CA5F3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Random</a:t>
            </a:r>
            <a:r>
              <a:rPr lang="es-PE" dirty="0"/>
              <a:t> Forest (Bosque Aleatorio)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6B6B0F-88B9-424B-AAC6-8F2DD4D1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Es un algoritmo de Machine </a:t>
            </a:r>
            <a:r>
              <a:rPr lang="es-MX" dirty="0" err="1"/>
              <a:t>Learning</a:t>
            </a:r>
            <a:r>
              <a:rPr lang="es-MX" dirty="0"/>
              <a:t> supervisado que sirve tanto para:</a:t>
            </a:r>
          </a:p>
          <a:p>
            <a:pPr marL="0" indent="0">
              <a:buNone/>
            </a:pPr>
            <a:r>
              <a:rPr lang="es-MX" dirty="0"/>
              <a:t>Clasificación → predecir categorías (aprobado/reprobado, moroso/cumplido).</a:t>
            </a:r>
          </a:p>
          <a:p>
            <a:pPr marL="0" indent="0">
              <a:buNone/>
            </a:pPr>
            <a:r>
              <a:rPr lang="es-MX" dirty="0"/>
              <a:t>Regresión → predecir valores numéricos (ventas, temperatura, precio).</a:t>
            </a:r>
          </a:p>
          <a:p>
            <a:pPr marL="0" indent="0">
              <a:buNone/>
            </a:pPr>
            <a:r>
              <a:rPr lang="es-MX" dirty="0"/>
              <a:t>La idea principal es sorprendentemente simple:</a:t>
            </a:r>
          </a:p>
          <a:p>
            <a:pPr marL="0" indent="0">
              <a:buNone/>
            </a:pPr>
            <a:r>
              <a:rPr lang="es-MX" dirty="0"/>
              <a:t>En lugar de preguntarle a un solo árbol de decisión, le preguntas a muchos árboles y haces que voten.</a:t>
            </a:r>
          </a:p>
          <a:p>
            <a:pPr marL="0" indent="0">
              <a:buNone/>
            </a:pPr>
            <a:r>
              <a:rPr lang="es-MX" dirty="0"/>
              <a:t>Imagina que necesitas decidir si aprobar un préstamo. Un solo analista puede equivocarse. Pero si preguntas a 100 analistas independientes y la mayoría coincide, normalmente obtienes una mejor decisión.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53694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0046A-2230-47AA-A05A-9F469AB1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Empecemos por entender el árbol de decisión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C4F7B4-A635-4050-BC39-A466DA4F1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61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 err="1"/>
              <a:t>Random</a:t>
            </a:r>
            <a:r>
              <a:rPr lang="es-MX" dirty="0"/>
              <a:t> Forest nace de los </a:t>
            </a:r>
            <a:r>
              <a:rPr lang="es-MX" b="1" dirty="0"/>
              <a:t>árboles de decisión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Supongamos este problema:</a:t>
            </a:r>
          </a:p>
          <a:p>
            <a:pPr marL="0" indent="0">
              <a:buNone/>
            </a:pPr>
            <a:r>
              <a:rPr lang="es-MX" b="1" dirty="0"/>
              <a:t>¿Un cliente pagará su deuda?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Datos:</a:t>
            </a:r>
          </a:p>
          <a:p>
            <a:pPr marL="0" indent="0">
              <a:buNone/>
            </a:pPr>
            <a:endParaRPr lang="es-PE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5CAEF68-FF59-472A-9F9D-67A65318B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997349"/>
              </p:ext>
            </p:extLst>
          </p:nvPr>
        </p:nvGraphicFramePr>
        <p:xfrm>
          <a:off x="978049" y="3921629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60313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59902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15113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0290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PE" b="1"/>
                        <a:t>Ingreso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b="1"/>
                        <a:t>Edad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b="1"/>
                        <a:t>Historial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b="1" dirty="0"/>
                        <a:t>Pagó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705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Bueno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Sí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760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Malo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64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Bueno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Sí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01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Malo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660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29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39DE8-7774-4F3F-8663-41025D38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Un árbol podría aprender algo como: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CA2DEA-54CD-46FD-9C06-BFD5D526F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¿Historial bueno?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SI</a:t>
            </a:r>
          </a:p>
          <a:p>
            <a:pPr marL="0" indent="0">
              <a:buNone/>
            </a:pPr>
            <a:r>
              <a:rPr lang="es-MX" dirty="0"/>
              <a:t> └─ ¿Ingreso alto?</a:t>
            </a:r>
          </a:p>
          <a:p>
            <a:pPr marL="0" indent="0">
              <a:buNone/>
            </a:pPr>
            <a:r>
              <a:rPr lang="es-MX" dirty="0"/>
              <a:t>      ├─ Sí → PAGA</a:t>
            </a:r>
          </a:p>
          <a:p>
            <a:pPr marL="0" indent="0">
              <a:buNone/>
            </a:pPr>
            <a:r>
              <a:rPr lang="es-MX" dirty="0"/>
              <a:t>      └─ No → PAGA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NO</a:t>
            </a:r>
          </a:p>
          <a:p>
            <a:pPr marL="0" indent="0">
              <a:buNone/>
            </a:pPr>
            <a:r>
              <a:rPr lang="es-MX" dirty="0"/>
              <a:t> └─ ¿Edad &lt; 25?</a:t>
            </a:r>
          </a:p>
          <a:p>
            <a:pPr marL="0" indent="0">
              <a:buNone/>
            </a:pPr>
            <a:r>
              <a:rPr lang="es-MX" dirty="0"/>
              <a:t>      ├─ Sí → NO PAGA</a:t>
            </a:r>
          </a:p>
          <a:p>
            <a:pPr marL="0" indent="0">
              <a:buNone/>
            </a:pPr>
            <a:r>
              <a:rPr lang="es-MX" dirty="0"/>
              <a:t>      └─ No → SI PAGA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3491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38A42B-6C1B-42C7-B95A-5E8070992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504" y="9004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Cada nodo hace preguntas. </a:t>
            </a:r>
          </a:p>
          <a:p>
            <a:pPr marL="0" indent="0">
              <a:buNone/>
            </a:pPr>
            <a:r>
              <a:rPr lang="es-MX" dirty="0"/>
              <a:t>Problema:</a:t>
            </a:r>
          </a:p>
          <a:p>
            <a:pPr marL="0" indent="0">
              <a:buNone/>
            </a:pPr>
            <a:r>
              <a:rPr lang="es-MX" dirty="0"/>
              <a:t>Un árbol puede </a:t>
            </a:r>
            <a:r>
              <a:rPr lang="es-MX" dirty="0" err="1"/>
              <a:t>sobreajustarse</a:t>
            </a:r>
            <a:r>
              <a:rPr lang="es-MX" dirty="0"/>
              <a:t> (</a:t>
            </a:r>
            <a:r>
              <a:rPr lang="es-MX" dirty="0" err="1"/>
              <a:t>overfitting</a:t>
            </a:r>
            <a:r>
              <a:rPr lang="es-MX" dirty="0"/>
              <a:t>).</a:t>
            </a:r>
          </a:p>
          <a:p>
            <a:pPr marL="0" indent="0">
              <a:buNone/>
            </a:pPr>
            <a:r>
              <a:rPr lang="es-MX" dirty="0"/>
              <a:t>Ejemplo:</a:t>
            </a:r>
          </a:p>
          <a:p>
            <a:pPr marL="0" indent="0">
              <a:buNone/>
            </a:pPr>
            <a:r>
              <a:rPr lang="es-MX" dirty="0"/>
              <a:t>Aprende cosas demasiado específicas:</a:t>
            </a:r>
          </a:p>
          <a:p>
            <a:pPr marL="0" indent="0">
              <a:buNone/>
            </a:pPr>
            <a:r>
              <a:rPr lang="es-MX" dirty="0"/>
              <a:t>"Si tiene 31 años, ingreso 2100 y compró martes → paga“</a:t>
            </a:r>
          </a:p>
          <a:p>
            <a:pPr marL="0" indent="0">
              <a:buNone/>
            </a:pPr>
            <a:r>
              <a:rPr lang="es-MX" dirty="0"/>
              <a:t>Eso falla con datos nuevos.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4378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93EB75-3CF4-40A7-B9D7-4F29FCF61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</a:t>
            </a:r>
            <a:r>
              <a:rPr lang="es-MX" dirty="0" err="1"/>
              <a:t>Random</a:t>
            </a:r>
            <a:r>
              <a:rPr lang="es-MX" dirty="0"/>
              <a:t> Forest resuelve ese problema?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0FDDB8-E69C-441F-8A51-283E9F78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/>
              <a:t>En lugar de usar:</a:t>
            </a:r>
          </a:p>
          <a:p>
            <a:pPr marL="457200" lvl="1" indent="0">
              <a:buNone/>
            </a:pPr>
            <a:r>
              <a:rPr lang="es-PE" dirty="0"/>
              <a:t>1 árbol</a:t>
            </a:r>
          </a:p>
          <a:p>
            <a:pPr marL="0" indent="0">
              <a:buNone/>
            </a:pPr>
            <a:r>
              <a:rPr lang="es-MX" dirty="0"/>
              <a:t>Pero cada árbol se construye diferente.</a:t>
            </a:r>
          </a:p>
          <a:p>
            <a:pPr marL="0" indent="0">
              <a:buNone/>
            </a:pPr>
            <a:r>
              <a:rPr lang="es-MX" dirty="0"/>
              <a:t>Ejemplo:</a:t>
            </a:r>
          </a:p>
          <a:p>
            <a:pPr marL="457200" lvl="1" indent="0">
              <a:buNone/>
            </a:pPr>
            <a:r>
              <a:rPr lang="es-MX" dirty="0"/>
              <a:t>Árbol 1 → Sí paga</a:t>
            </a:r>
          </a:p>
          <a:p>
            <a:pPr marL="457200" lvl="1" indent="0">
              <a:buNone/>
            </a:pPr>
            <a:r>
              <a:rPr lang="es-MX" dirty="0"/>
              <a:t>Árbol 2 → Sí paga</a:t>
            </a:r>
          </a:p>
          <a:p>
            <a:pPr marL="457200" lvl="1" indent="0">
              <a:buNone/>
            </a:pPr>
            <a:r>
              <a:rPr lang="es-MX" dirty="0"/>
              <a:t>Árbol 3 → No paga</a:t>
            </a:r>
          </a:p>
          <a:p>
            <a:pPr marL="457200" lvl="1" indent="0">
              <a:buNone/>
            </a:pPr>
            <a:r>
              <a:rPr lang="es-MX" dirty="0"/>
              <a:t>Árbol 4 → Sí paga</a:t>
            </a:r>
          </a:p>
          <a:p>
            <a:pPr marL="457200" lvl="1" indent="0">
              <a:buNone/>
            </a:pPr>
            <a:r>
              <a:rPr lang="es-MX" dirty="0"/>
              <a:t>Árbol 5 → Sí paga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7942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870A4-707B-4F82-9FDE-A70B4102F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Votación: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EA7349-C255-4403-87EC-D318BE10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Sí = 4 votos</a:t>
            </a:r>
            <a:br>
              <a:rPr lang="es-MX" dirty="0"/>
            </a:br>
            <a:r>
              <a:rPr lang="es-MX" dirty="0"/>
              <a:t>No = 1 voto</a:t>
            </a:r>
          </a:p>
          <a:p>
            <a:pPr marL="0" indent="0">
              <a:buNone/>
            </a:pPr>
            <a:r>
              <a:rPr lang="es-PE" dirty="0"/>
              <a:t>Resultado:</a:t>
            </a:r>
          </a:p>
          <a:p>
            <a:pPr marL="0" indent="0">
              <a:buNone/>
            </a:pPr>
            <a:r>
              <a:rPr lang="es-PE" dirty="0"/>
              <a:t>✅ Sí paga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0927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4BDA9-7D5A-4D59-8EB8-20973050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hace para que los árboles sean distintos?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69D15A-8DDB-4557-B469-80B5EBB81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48200" cy="475805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Aquí aparece la magia.</a:t>
            </a:r>
          </a:p>
          <a:p>
            <a:pPr marL="0" indent="0">
              <a:buNone/>
            </a:pPr>
            <a:r>
              <a:rPr lang="es-MX" dirty="0" err="1"/>
              <a:t>Random</a:t>
            </a:r>
            <a:r>
              <a:rPr lang="es-MX" dirty="0"/>
              <a:t> Forest introduce </a:t>
            </a:r>
            <a:r>
              <a:rPr lang="es-MX" b="1" dirty="0"/>
              <a:t>aleatoriedad</a:t>
            </a:r>
            <a:r>
              <a:rPr lang="es-MX" dirty="0"/>
              <a:t> en dos lugares.</a:t>
            </a:r>
          </a:p>
          <a:p>
            <a:pPr marL="0" indent="0">
              <a:buNone/>
            </a:pPr>
            <a:r>
              <a:rPr lang="es-MX" b="1" dirty="0"/>
              <a:t>Paso A — Selección aleatoria de filas (Bootstrap)</a:t>
            </a:r>
          </a:p>
          <a:p>
            <a:pPr marL="0" indent="0">
              <a:buNone/>
            </a:pPr>
            <a:r>
              <a:rPr lang="es-MX" dirty="0"/>
              <a:t>Supongamos que tienes:</a:t>
            </a:r>
          </a:p>
          <a:p>
            <a:pPr marL="0" indent="0">
              <a:buNone/>
            </a:pPr>
            <a:r>
              <a:rPr lang="es-MX" dirty="0"/>
              <a:t>1000 clientes</a:t>
            </a:r>
          </a:p>
          <a:p>
            <a:pPr marL="0" indent="0">
              <a:buNone/>
            </a:pPr>
            <a:r>
              <a:rPr lang="es-PE" dirty="0"/>
              <a:t>Cada árbol NO usa todos.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7E5BAB-EAB5-41D1-82A7-69F996E0ED18}"/>
              </a:ext>
            </a:extLst>
          </p:cNvPr>
          <p:cNvSpPr txBox="1">
            <a:spLocks/>
          </p:cNvSpPr>
          <p:nvPr/>
        </p:nvSpPr>
        <p:spPr>
          <a:xfrm>
            <a:off x="5829748" y="1825623"/>
            <a:ext cx="1668332" cy="4758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/>
              <a:t>Árbol 1:</a:t>
            </a: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Clientes: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18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52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120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...</a:t>
            </a:r>
            <a:endParaRPr lang="es-PE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PE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D6D998EC-D2B5-4144-8218-055AD6CF7CAC}"/>
              </a:ext>
            </a:extLst>
          </p:cNvPr>
          <p:cNvSpPr txBox="1">
            <a:spLocks/>
          </p:cNvSpPr>
          <p:nvPr/>
        </p:nvSpPr>
        <p:spPr>
          <a:xfrm>
            <a:off x="9143104" y="1825623"/>
            <a:ext cx="1668332" cy="4758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/>
              <a:t>Árbol 2:</a:t>
            </a: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Clientes: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10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50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90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...</a:t>
            </a:r>
            <a:endParaRPr lang="es-PE" dirty="0"/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  <a:p>
            <a:pPr marL="0" indent="0">
              <a:buFont typeface="Arial" panose="020B0604020202020204" pitchFamily="34" charset="0"/>
              <a:buNone/>
            </a:pP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E31B08-8EC4-436A-9A59-0BF055FF43D7}"/>
              </a:ext>
            </a:extLst>
          </p:cNvPr>
          <p:cNvSpPr txBox="1"/>
          <p:nvPr/>
        </p:nvSpPr>
        <p:spPr>
          <a:xfrm>
            <a:off x="838200" y="5809130"/>
            <a:ext cx="10252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Eso se llama:  </a:t>
            </a:r>
            <a:r>
              <a:rPr lang="es-MX" sz="2400" b="1" dirty="0"/>
              <a:t>Bootstrap </a:t>
            </a:r>
            <a:r>
              <a:rPr lang="es-MX" sz="2400" b="1" dirty="0" err="1"/>
              <a:t>Sampling</a:t>
            </a:r>
            <a:r>
              <a:rPr lang="es-MX" sz="2400" b="1" dirty="0"/>
              <a:t>  </a:t>
            </a:r>
            <a:r>
              <a:rPr lang="es-MX" sz="2400" dirty="0"/>
              <a:t>Cada árbol aprende con una muestra diferente.</a:t>
            </a:r>
          </a:p>
          <a:p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4010602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E8DB7-FDD9-4BB9-9D15-E0F8A8E9C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Paso B — Selección aleatoria de columnas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A7D637-18ED-47B9-AC36-30035ECA4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47739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Supón que tienes:</a:t>
            </a:r>
          </a:p>
          <a:p>
            <a:pPr marL="0" indent="0">
              <a:buNone/>
            </a:pPr>
            <a:r>
              <a:rPr lang="es-MX" dirty="0"/>
              <a:t>| Edad |</a:t>
            </a:r>
            <a:br>
              <a:rPr lang="es-MX" dirty="0"/>
            </a:br>
            <a:r>
              <a:rPr lang="es-MX" dirty="0"/>
              <a:t>| Ingreso |</a:t>
            </a:r>
            <a:br>
              <a:rPr lang="es-MX" dirty="0"/>
            </a:br>
            <a:r>
              <a:rPr lang="es-MX" dirty="0"/>
              <a:t>| Género |</a:t>
            </a:r>
            <a:br>
              <a:rPr lang="es-MX" dirty="0"/>
            </a:br>
            <a:r>
              <a:rPr lang="es-MX" dirty="0"/>
              <a:t>| Historial |</a:t>
            </a:r>
            <a:br>
              <a:rPr lang="es-MX" dirty="0"/>
            </a:br>
            <a:r>
              <a:rPr lang="es-MX" dirty="0"/>
              <a:t>| Compras |</a:t>
            </a:r>
          </a:p>
          <a:p>
            <a:pPr marL="0" indent="0">
              <a:buNone/>
            </a:pPr>
            <a:r>
              <a:rPr lang="es-MX" dirty="0"/>
              <a:t>El árbol NO ve todas.</a:t>
            </a:r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F7A437A-F5D7-434F-BD9A-CD8E31816361}"/>
              </a:ext>
            </a:extLst>
          </p:cNvPr>
          <p:cNvSpPr txBox="1">
            <a:spLocks/>
          </p:cNvSpPr>
          <p:nvPr/>
        </p:nvSpPr>
        <p:spPr>
          <a:xfrm>
            <a:off x="4700195" y="1825625"/>
            <a:ext cx="36477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Árbol 1: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Edad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Ingreso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Árbol 2: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Historial</a:t>
            </a:r>
            <a:br>
              <a:rPr lang="es-PE" dirty="0"/>
            </a:br>
            <a:r>
              <a:rPr lang="es-PE" dirty="0"/>
              <a:t>Compras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Árbol 3: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Edad</a:t>
            </a:r>
            <a:br>
              <a:rPr lang="es-PE" dirty="0"/>
            </a:br>
            <a:r>
              <a:rPr lang="es-PE" dirty="0"/>
              <a:t>Historial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C8465F7-972B-4D20-8CEA-976649AD55AB}"/>
              </a:ext>
            </a:extLst>
          </p:cNvPr>
          <p:cNvSpPr txBox="1">
            <a:spLocks/>
          </p:cNvSpPr>
          <p:nvPr/>
        </p:nvSpPr>
        <p:spPr>
          <a:xfrm>
            <a:off x="8347934" y="1825625"/>
            <a:ext cx="36477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Eso evita que todos piensen igual.</a:t>
            </a:r>
          </a:p>
        </p:txBody>
      </p:sp>
    </p:spTree>
    <p:extLst>
      <p:ext uri="{BB962C8B-B14F-4D97-AF65-F5344CB8AC3E}">
        <p14:creationId xmlns:p14="http://schemas.microsoft.com/office/powerpoint/2010/main" val="172762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623D6-3DFE-482A-ACFA-EF08B647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Flujo completo del algoritmo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36283-240D-4DEE-A641-ED836091A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PE" dirty="0"/>
              <a:t>Supongamos:</a:t>
            </a:r>
          </a:p>
          <a:p>
            <a:pPr marL="0" indent="0">
              <a:buNone/>
            </a:pPr>
            <a:r>
              <a:rPr lang="es-PE" dirty="0"/>
              <a:t>100 árboles</a:t>
            </a:r>
          </a:p>
          <a:p>
            <a:pPr marL="0" indent="0">
              <a:buNone/>
            </a:pPr>
            <a:r>
              <a:rPr lang="es-PE" dirty="0"/>
              <a:t>Proceso:</a:t>
            </a:r>
          </a:p>
          <a:p>
            <a:pPr marL="0" indent="0">
              <a:buNone/>
            </a:pPr>
            <a:r>
              <a:rPr lang="es-PE" b="1" dirty="0"/>
              <a:t>Entrenamiento</a:t>
            </a:r>
          </a:p>
          <a:p>
            <a:pPr marL="0" indent="0">
              <a:buNone/>
            </a:pPr>
            <a:r>
              <a:rPr lang="es-PE" dirty="0"/>
              <a:t>PARA cada árbol</a:t>
            </a:r>
          </a:p>
          <a:p>
            <a:pPr marL="0" indent="0">
              <a:buNone/>
            </a:pPr>
            <a:r>
              <a:rPr lang="es-PE" dirty="0"/>
              <a:t>1 Elegir filas aleatorias</a:t>
            </a:r>
          </a:p>
          <a:p>
            <a:pPr marL="0" indent="0">
              <a:buNone/>
            </a:pPr>
            <a:r>
              <a:rPr lang="es-PE" dirty="0"/>
              <a:t>2 Elegir columnas aleatorias</a:t>
            </a:r>
          </a:p>
          <a:p>
            <a:pPr marL="0" indent="0">
              <a:buNone/>
            </a:pPr>
            <a:r>
              <a:rPr lang="es-PE" dirty="0"/>
              <a:t>3 Construir árbol completo</a:t>
            </a:r>
          </a:p>
          <a:p>
            <a:pPr marL="0" indent="0">
              <a:buNone/>
            </a:pPr>
            <a:r>
              <a:rPr lang="es-PE" dirty="0"/>
              <a:t>FIN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CA403AF-6DED-48BA-A399-D8B8D66FB93A}"/>
              </a:ext>
            </a:extLst>
          </p:cNvPr>
          <p:cNvSpPr txBox="1">
            <a:spLocks/>
          </p:cNvSpPr>
          <p:nvPr/>
        </p:nvSpPr>
        <p:spPr>
          <a:xfrm>
            <a:off x="5797476" y="1825625"/>
            <a:ext cx="4648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Resultado: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/>
              <a:t>Bosque de árboles</a:t>
            </a:r>
          </a:p>
        </p:txBody>
      </p:sp>
    </p:spTree>
    <p:extLst>
      <p:ext uri="{BB962C8B-B14F-4D97-AF65-F5344CB8AC3E}">
        <p14:creationId xmlns:p14="http://schemas.microsoft.com/office/powerpoint/2010/main" val="3359563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27C4E-18DE-4725-8A1E-68EC6F08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Predicción (Clasificación)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CDB3B1-850D-4E19-8456-F7788919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E" dirty="0"/>
              <a:t>Nuevo cliente:</a:t>
            </a:r>
          </a:p>
          <a:p>
            <a:r>
              <a:rPr lang="es-PE" dirty="0"/>
              <a:t>Edad = 28</a:t>
            </a:r>
            <a:br>
              <a:rPr lang="es-PE" dirty="0"/>
            </a:br>
            <a:r>
              <a:rPr lang="es-PE" dirty="0"/>
              <a:t>Ingreso = 2500</a:t>
            </a:r>
          </a:p>
          <a:p>
            <a:r>
              <a:rPr lang="es-PE" dirty="0"/>
              <a:t>Votación:</a:t>
            </a:r>
          </a:p>
          <a:p>
            <a:r>
              <a:rPr lang="es-MX" dirty="0"/>
              <a:t>Árbol1 → Sí</a:t>
            </a:r>
            <a:br>
              <a:rPr lang="es-MX" dirty="0"/>
            </a:br>
            <a:r>
              <a:rPr lang="es-MX" dirty="0"/>
              <a:t>Árbol2 → Sí</a:t>
            </a:r>
            <a:br>
              <a:rPr lang="es-MX" dirty="0"/>
            </a:br>
            <a:r>
              <a:rPr lang="es-MX" dirty="0"/>
              <a:t>Árbol3 → No</a:t>
            </a:r>
            <a:br>
              <a:rPr lang="es-MX" dirty="0"/>
            </a:br>
            <a:r>
              <a:rPr lang="es-MX" dirty="0"/>
              <a:t>Árbol4 → Sí</a:t>
            </a:r>
            <a:br>
              <a:rPr lang="es-MX" dirty="0"/>
            </a:br>
            <a:r>
              <a:rPr lang="es-MX" dirty="0"/>
              <a:t>...</a:t>
            </a:r>
            <a:endParaRPr lang="es-PE" dirty="0"/>
          </a:p>
          <a:p>
            <a:r>
              <a:rPr lang="es-PE" dirty="0"/>
              <a:t>Mayoría: SI</a:t>
            </a:r>
          </a:p>
        </p:txBody>
      </p:sp>
    </p:spTree>
    <p:extLst>
      <p:ext uri="{BB962C8B-B14F-4D97-AF65-F5344CB8AC3E}">
        <p14:creationId xmlns:p14="http://schemas.microsoft.com/office/powerpoint/2010/main" val="358748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22FB-6657-427A-9E14-C766D39F8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Predicción (Regresión)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3F6211-0151-4BF8-8BDB-E2BACE192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Supongamos predecir ventas:</a:t>
            </a:r>
          </a:p>
          <a:p>
            <a:r>
              <a:rPr lang="es-PE" dirty="0"/>
              <a:t>Árbol1 → 1000</a:t>
            </a:r>
          </a:p>
          <a:p>
            <a:r>
              <a:rPr lang="es-PE" dirty="0"/>
              <a:t>Árbol2 → 1200</a:t>
            </a:r>
          </a:p>
          <a:p>
            <a:r>
              <a:rPr lang="es-PE" dirty="0"/>
              <a:t>Árbol3 → 900</a:t>
            </a:r>
          </a:p>
          <a:p>
            <a:r>
              <a:rPr lang="es-PE" dirty="0"/>
              <a:t>Promedio: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5D51D3-9071-4EF6-94E5-260671E0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24" y="4393915"/>
            <a:ext cx="3518647" cy="106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6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3105A-7246-4062-ABD3-1E25AE24D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5. Ejemplo visual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66396E-00F0-4A41-96FA-705A2DF5B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PE" dirty="0"/>
              <a:t> RANDOM FOREST</a:t>
            </a:r>
          </a:p>
          <a:p>
            <a:pPr marL="0" indent="0">
              <a:buNone/>
            </a:pPr>
            <a:r>
              <a:rPr lang="es-PE" dirty="0"/>
              <a:t>Imagen→</a:t>
            </a:r>
          </a:p>
          <a:p>
            <a:pPr marL="0" indent="0">
              <a:buNone/>
            </a:pPr>
            <a:r>
              <a:rPr lang="es-PE" dirty="0"/>
              <a:t>      	Árbol1 → Gato</a:t>
            </a:r>
          </a:p>
          <a:p>
            <a:pPr marL="0" indent="0">
              <a:buNone/>
            </a:pPr>
            <a:r>
              <a:rPr lang="es-PE" dirty="0"/>
              <a:t>      	Árbol2 → Perro</a:t>
            </a:r>
          </a:p>
          <a:p>
            <a:pPr marL="0" indent="0">
              <a:buNone/>
            </a:pPr>
            <a:r>
              <a:rPr lang="es-PE" dirty="0"/>
              <a:t>	Árbol3 → Gato</a:t>
            </a:r>
          </a:p>
          <a:p>
            <a:pPr marL="0" indent="0">
              <a:buNone/>
            </a:pPr>
            <a:r>
              <a:rPr lang="es-PE" dirty="0"/>
              <a:t>      	Árbol4 → Gato</a:t>
            </a:r>
          </a:p>
          <a:p>
            <a:pPr marL="0" indent="0">
              <a:buNone/>
            </a:pPr>
            <a:r>
              <a:rPr lang="es-PE" dirty="0"/>
              <a:t>      	Árbol5 → Perro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r>
              <a:rPr lang="es-PE" dirty="0"/>
              <a:t>Resultado:</a:t>
            </a:r>
          </a:p>
          <a:p>
            <a:pPr marL="0" indent="0">
              <a:buNone/>
            </a:pPr>
            <a:r>
              <a:rPr lang="es-PE" dirty="0"/>
              <a:t>GATO</a:t>
            </a:r>
          </a:p>
        </p:txBody>
      </p:sp>
    </p:spTree>
    <p:extLst>
      <p:ext uri="{BB962C8B-B14F-4D97-AF65-F5344CB8AC3E}">
        <p14:creationId xmlns:p14="http://schemas.microsoft.com/office/powerpoint/2010/main" val="360814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6719A-84B1-42D9-923B-2E4426FD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6. Parámetros importantes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4F19D7-DDA6-4CBC-B16F-F3AB2225F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4106" cy="4351338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Cuando programas </a:t>
            </a:r>
            <a:r>
              <a:rPr lang="es-PE" dirty="0" err="1"/>
              <a:t>Random</a:t>
            </a:r>
            <a:r>
              <a:rPr lang="es-PE" dirty="0"/>
              <a:t> Forest normalmente configuras esto:</a:t>
            </a:r>
          </a:p>
          <a:p>
            <a:pPr marL="0" indent="0">
              <a:buNone/>
            </a:pPr>
            <a:r>
              <a:rPr lang="es-PE" b="1" dirty="0" err="1"/>
              <a:t>n_estimators</a:t>
            </a:r>
            <a:endParaRPr lang="es-PE" b="1" dirty="0"/>
          </a:p>
          <a:p>
            <a:pPr marL="0" indent="0">
              <a:buNone/>
            </a:pPr>
            <a:r>
              <a:rPr lang="es-PE" dirty="0"/>
              <a:t>Cantidad de árboles.</a:t>
            </a:r>
          </a:p>
          <a:p>
            <a:pPr marL="0" indent="0">
              <a:buNone/>
            </a:pPr>
            <a:r>
              <a:rPr lang="es-PE" dirty="0" err="1"/>
              <a:t>RandomForestClassifier</a:t>
            </a:r>
            <a:r>
              <a:rPr lang="es-PE" dirty="0"/>
              <a:t>(</a:t>
            </a:r>
          </a:p>
          <a:p>
            <a:pPr marL="0" indent="0">
              <a:buNone/>
            </a:pPr>
            <a:r>
              <a:rPr lang="es-PE" dirty="0"/>
              <a:t>    </a:t>
            </a:r>
            <a:r>
              <a:rPr lang="es-PE" dirty="0" err="1"/>
              <a:t>n_estimators</a:t>
            </a:r>
            <a:r>
              <a:rPr lang="es-PE" dirty="0"/>
              <a:t>=100</a:t>
            </a:r>
          </a:p>
          <a:p>
            <a:pPr marL="0" indent="0">
              <a:buNone/>
            </a:pPr>
            <a:r>
              <a:rPr lang="es-PE" dirty="0"/>
              <a:t>)</a:t>
            </a:r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DC33797-E90A-4414-AD54-9CDDD1FF9E06}"/>
              </a:ext>
            </a:extLst>
          </p:cNvPr>
          <p:cNvSpPr txBox="1">
            <a:spLocks/>
          </p:cNvSpPr>
          <p:nvPr/>
        </p:nvSpPr>
        <p:spPr>
          <a:xfrm>
            <a:off x="5969598" y="1865481"/>
            <a:ext cx="41641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Más árboles:</a:t>
            </a:r>
          </a:p>
          <a:p>
            <a:pPr marL="457200" lvl="1" indent="0">
              <a:buNone/>
            </a:pPr>
            <a:r>
              <a:rPr lang="es-MX" dirty="0"/>
              <a:t>Más precisión </a:t>
            </a:r>
          </a:p>
          <a:p>
            <a:pPr marL="457200" lvl="1" indent="0">
              <a:buNone/>
            </a:pPr>
            <a:r>
              <a:rPr lang="es-MX" dirty="0"/>
              <a:t>Más tiempo 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59669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7DEE23-53E2-4EF7-9B5F-45A64793F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55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PE" b="1" dirty="0" err="1"/>
              <a:t>max_depth</a:t>
            </a:r>
            <a:endParaRPr lang="es-PE" b="1" dirty="0"/>
          </a:p>
          <a:p>
            <a:pPr marL="0" indent="0">
              <a:buNone/>
            </a:pPr>
            <a:r>
              <a:rPr lang="es-PE" dirty="0"/>
              <a:t>Profundidad máxima.</a:t>
            </a:r>
          </a:p>
          <a:p>
            <a:pPr marL="0" indent="0">
              <a:buNone/>
            </a:pPr>
            <a:r>
              <a:rPr lang="es-PE" dirty="0" err="1"/>
              <a:t>max_depth</a:t>
            </a:r>
            <a:r>
              <a:rPr lang="es-PE" dirty="0"/>
              <a:t>=5</a:t>
            </a:r>
          </a:p>
          <a:p>
            <a:pPr marL="0" indent="0">
              <a:buNone/>
            </a:pPr>
            <a:r>
              <a:rPr lang="es-PE" dirty="0"/>
              <a:t>Árbol profundo:</a:t>
            </a:r>
          </a:p>
          <a:p>
            <a:pPr marL="457200" lvl="1" indent="0">
              <a:buNone/>
            </a:pPr>
            <a:r>
              <a:rPr lang="es-PE" dirty="0"/>
              <a:t>mucho detalle</a:t>
            </a:r>
            <a:br>
              <a:rPr lang="es-PE" dirty="0"/>
            </a:br>
            <a:r>
              <a:rPr lang="es-PE" dirty="0"/>
              <a:t>más </a:t>
            </a:r>
            <a:r>
              <a:rPr lang="es-PE" dirty="0" err="1"/>
              <a:t>overfitting</a:t>
            </a:r>
            <a:endParaRPr lang="es-PE" dirty="0"/>
          </a:p>
          <a:p>
            <a:pPr marL="0" indent="0">
              <a:buNone/>
            </a:pPr>
            <a:r>
              <a:rPr lang="es-PE" dirty="0"/>
              <a:t>Árbol pequeño:</a:t>
            </a:r>
          </a:p>
          <a:p>
            <a:pPr marL="457200" lvl="1" indent="0">
              <a:buNone/>
            </a:pPr>
            <a:r>
              <a:rPr lang="es-PE" dirty="0"/>
              <a:t>menos detalle</a:t>
            </a:r>
            <a:br>
              <a:rPr lang="es-PE" dirty="0"/>
            </a:br>
            <a:r>
              <a:rPr lang="es-PE" dirty="0"/>
              <a:t>más generalización</a:t>
            </a:r>
          </a:p>
        </p:txBody>
      </p:sp>
    </p:spTree>
    <p:extLst>
      <p:ext uri="{BB962C8B-B14F-4D97-AF65-F5344CB8AC3E}">
        <p14:creationId xmlns:p14="http://schemas.microsoft.com/office/powerpoint/2010/main" val="235735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2C269D-3195-45B6-80F2-D7C9851A2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2415"/>
            <a:ext cx="10515600" cy="5413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b="1" dirty="0" err="1"/>
              <a:t>min_samples_split</a:t>
            </a:r>
            <a:endParaRPr lang="es-PE" b="1" dirty="0"/>
          </a:p>
          <a:p>
            <a:pPr marL="0" indent="0">
              <a:buNone/>
            </a:pPr>
            <a:r>
              <a:rPr lang="es-PE" dirty="0"/>
              <a:t>Mínimo de registros para dividir.</a:t>
            </a:r>
          </a:p>
          <a:p>
            <a:pPr marL="0" indent="0">
              <a:buNone/>
            </a:pPr>
            <a:r>
              <a:rPr lang="es-PE" dirty="0"/>
              <a:t>Ejemplo:</a:t>
            </a:r>
          </a:p>
          <a:p>
            <a:pPr marL="457200" lvl="1" indent="0">
              <a:buNone/>
            </a:pPr>
            <a:r>
              <a:rPr lang="es-PE" dirty="0" err="1"/>
              <a:t>min_samples_split</a:t>
            </a:r>
            <a:r>
              <a:rPr lang="es-PE" dirty="0"/>
              <a:t>=10</a:t>
            </a:r>
          </a:p>
          <a:p>
            <a:pPr marL="0" indent="0">
              <a:buNone/>
            </a:pPr>
            <a:r>
              <a:rPr lang="es-MX" b="1" dirty="0" err="1"/>
              <a:t>max_features</a:t>
            </a:r>
            <a:endParaRPr lang="es-MX" b="1" dirty="0"/>
          </a:p>
          <a:p>
            <a:pPr marL="0" indent="0">
              <a:buNone/>
            </a:pPr>
            <a:r>
              <a:rPr lang="es-MX" dirty="0"/>
              <a:t>Cuántas columnas mira.</a:t>
            </a:r>
          </a:p>
          <a:p>
            <a:pPr marL="457200" lvl="1" indent="0">
              <a:buNone/>
            </a:pPr>
            <a:r>
              <a:rPr lang="es-PE" dirty="0" err="1"/>
              <a:t>max_features</a:t>
            </a:r>
            <a:r>
              <a:rPr lang="es-PE" dirty="0"/>
              <a:t>="</a:t>
            </a:r>
            <a:r>
              <a:rPr lang="es-PE" dirty="0" err="1"/>
              <a:t>sqrt</a:t>
            </a:r>
            <a:r>
              <a:rPr lang="es-PE" dirty="0"/>
              <a:t>“</a:t>
            </a:r>
          </a:p>
          <a:p>
            <a:pPr marL="0" indent="0">
              <a:buNone/>
            </a:pPr>
            <a:r>
              <a:rPr lang="es-MX" dirty="0"/>
              <a:t>Ejemplo:</a:t>
            </a:r>
          </a:p>
          <a:p>
            <a:pPr marL="457200" lvl="1" indent="0">
              <a:buNone/>
            </a:pPr>
            <a:r>
              <a:rPr lang="es-MX" dirty="0"/>
              <a:t>10 variables.</a:t>
            </a:r>
          </a:p>
          <a:p>
            <a:pPr marL="0" indent="0">
              <a:buNone/>
            </a:pPr>
            <a:r>
              <a:rPr lang="es-MX" dirty="0"/>
              <a:t>Cada división usa:</a:t>
            </a:r>
          </a:p>
          <a:p>
            <a:pPr marL="457200" lvl="1" indent="0">
              <a:buNone/>
            </a:pPr>
            <a:r>
              <a:rPr lang="es-PE" dirty="0"/>
              <a:t>10</a:t>
            </a:r>
            <a:r>
              <a:rPr lang="es-PE" baseline="30000" dirty="0"/>
              <a:t>1/2</a:t>
            </a:r>
            <a:r>
              <a:rPr lang="es-PE" dirty="0"/>
              <a:t> = 3</a:t>
            </a:r>
            <a:endParaRPr lang="es-PE" baseline="30000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81177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F759F-0E47-4323-8728-F327DB23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7. 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CE1EB3-AAC7-4E30-B9A6-49FDA26C9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✅ Muy preciso</a:t>
            </a:r>
            <a:br>
              <a:rPr lang="es-MX" dirty="0"/>
            </a:br>
            <a:r>
              <a:rPr lang="es-MX" dirty="0"/>
              <a:t>✅ Maneja miles de datos</a:t>
            </a:r>
            <a:br>
              <a:rPr lang="es-MX" dirty="0"/>
            </a:br>
            <a:r>
              <a:rPr lang="es-MX" dirty="0"/>
              <a:t>✅ Funciona con datos faltantes</a:t>
            </a:r>
            <a:br>
              <a:rPr lang="es-MX" dirty="0"/>
            </a:br>
            <a:r>
              <a:rPr lang="es-MX" dirty="0"/>
              <a:t>✅ Menos </a:t>
            </a:r>
            <a:r>
              <a:rPr lang="es-MX" dirty="0" err="1"/>
              <a:t>overfitting</a:t>
            </a:r>
            <a:r>
              <a:rPr lang="es-MX" dirty="0"/>
              <a:t> que un árbol</a:t>
            </a:r>
            <a:br>
              <a:rPr lang="es-MX" dirty="0"/>
            </a:br>
            <a:r>
              <a:rPr lang="es-MX" dirty="0"/>
              <a:t>✅ Permite medir importancia de variables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PE" dirty="0"/>
              <a:t>Ejemplo: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Historial → 60%</a:t>
            </a:r>
          </a:p>
          <a:p>
            <a:pPr marL="0" indent="0">
              <a:buNone/>
            </a:pPr>
            <a:r>
              <a:rPr lang="es-MX" dirty="0"/>
              <a:t>Ingreso → 30%</a:t>
            </a:r>
          </a:p>
          <a:p>
            <a:pPr marL="0" indent="0">
              <a:buNone/>
            </a:pPr>
            <a:r>
              <a:rPr lang="es-MX" dirty="0"/>
              <a:t>Edad → 10%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55405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B5BC5-1C76-49DD-8C1C-D53D10D41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8. 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72FF4A-8A76-4C3A-8094-ABC534815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❌ Más lento que un árbol simple</a:t>
            </a:r>
            <a:br>
              <a:rPr lang="es-MX" dirty="0"/>
            </a:br>
            <a:r>
              <a:rPr lang="es-MX" dirty="0"/>
              <a:t>❌ Consume memoria</a:t>
            </a:r>
            <a:br>
              <a:rPr lang="es-MX" dirty="0"/>
            </a:br>
            <a:r>
              <a:rPr lang="es-MX" dirty="0"/>
              <a:t>❌ Difícil de interpretar</a:t>
            </a:r>
            <a:br>
              <a:rPr lang="es-MX" dirty="0"/>
            </a:br>
            <a:r>
              <a:rPr lang="es-MX" dirty="0"/>
              <a:t>❌ Muchos árboles pueden ser pesados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4628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7B371-F9CF-4E11-A2E2-A202DCBD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9. Ejemplo real (empresa de impresiones)</a:t>
            </a:r>
            <a:endParaRPr lang="es-PE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4A82B87-3D8E-4A59-ABB9-994B4B175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037263"/>
              </p:ext>
            </p:extLst>
          </p:nvPr>
        </p:nvGraphicFramePr>
        <p:xfrm>
          <a:off x="1021080" y="1828249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723218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207386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903121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16729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PE" b="1"/>
                        <a:t>Pedidos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b="1"/>
                        <a:t>Operarios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b="1"/>
                        <a:t>Tiempo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b="1" dirty="0"/>
                        <a:t>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09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2h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573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s-PE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/>
                        <a:t>5h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Sí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618582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82D23EE-C167-4D82-BC98-A1C78E7717A0}"/>
              </a:ext>
            </a:extLst>
          </p:cNvPr>
          <p:cNvSpPr txBox="1"/>
          <p:nvPr/>
        </p:nvSpPr>
        <p:spPr>
          <a:xfrm>
            <a:off x="1021080" y="3259566"/>
            <a:ext cx="98217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Objetivo:</a:t>
            </a:r>
          </a:p>
          <a:p>
            <a:r>
              <a:rPr lang="es-MX" sz="2800" dirty="0"/>
              <a:t>Predecir:¿Habrá retraso?</a:t>
            </a:r>
          </a:p>
          <a:p>
            <a:r>
              <a:rPr lang="es-MX" sz="2800" dirty="0" err="1"/>
              <a:t>Random</a:t>
            </a:r>
            <a:r>
              <a:rPr lang="es-MX" sz="2800" dirty="0"/>
              <a:t> Forest genera:</a:t>
            </a:r>
          </a:p>
          <a:p>
            <a:r>
              <a:rPr lang="es-MX" sz="2800" dirty="0"/>
              <a:t>Árbol1 → Retraso</a:t>
            </a:r>
          </a:p>
          <a:p>
            <a:r>
              <a:rPr lang="es-PE" sz="2800" dirty="0"/>
              <a:t>Árbol2 → No</a:t>
            </a:r>
            <a:br>
              <a:rPr lang="es-PE" sz="2800" dirty="0"/>
            </a:br>
            <a:r>
              <a:rPr lang="es-PE" sz="2800" dirty="0"/>
              <a:t>Árbol3 → Retraso</a:t>
            </a:r>
          </a:p>
        </p:txBody>
      </p:sp>
    </p:spTree>
    <p:extLst>
      <p:ext uri="{BB962C8B-B14F-4D97-AF65-F5344CB8AC3E}">
        <p14:creationId xmlns:p14="http://schemas.microsoft.com/office/powerpoint/2010/main" val="2966703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6B569-CF21-4688-9107-AA54F7347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Resultado: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310E08-649E-4954-8F52-6291448A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PE" dirty="0"/>
              <a:t>Retraso</a:t>
            </a:r>
          </a:p>
          <a:p>
            <a:pPr marL="0" indent="0">
              <a:buNone/>
            </a:pPr>
            <a:r>
              <a:rPr lang="es-MX" dirty="0"/>
              <a:t>Entonces el sistema puede:</a:t>
            </a:r>
          </a:p>
          <a:p>
            <a:pPr marL="457200" lvl="1" indent="0">
              <a:buNone/>
            </a:pPr>
            <a:r>
              <a:rPr lang="es-MX" dirty="0"/>
              <a:t>reasignar operarios, </a:t>
            </a:r>
          </a:p>
          <a:p>
            <a:pPr marL="457200" lvl="1" indent="0">
              <a:buNone/>
            </a:pPr>
            <a:r>
              <a:rPr lang="es-MX" dirty="0"/>
              <a:t>priorizar pedidos, </a:t>
            </a:r>
          </a:p>
          <a:p>
            <a:pPr marL="457200" lvl="1" indent="0">
              <a:buNone/>
            </a:pPr>
            <a:r>
              <a:rPr lang="es-MX" dirty="0"/>
              <a:t>alertar al supervisor. 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37923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FF71C-1351-4945-8FB8-A019B44E5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Diferencia rápida con otros algoritmos</a:t>
            </a:r>
            <a:endParaRPr lang="es-PE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9CFE405-0F52-40DB-B532-2879F851C7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574294"/>
              </p:ext>
            </p:extLst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913038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7492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PE" b="1">
                          <a:solidFill>
                            <a:schemeClr val="tx1"/>
                          </a:solidFill>
                        </a:rPr>
                        <a:t>Algoritmo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b="1" dirty="0">
                          <a:solidFill>
                            <a:schemeClr val="tx1"/>
                          </a:solidFill>
                        </a:rPr>
                        <a:t>Cómo decide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523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Regresión logística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Fórmula matemática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660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Árbol de decisión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Un árbol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34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Muchos árboles votan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416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Vecinos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24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/>
                        <a:t>Separación geométrica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59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Red neuronal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Capas de neuronas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19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193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D75AB-DA0F-451E-8740-8102779B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Evaluación de métricas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AFD665-C1C2-4388-ACA7-744F7CD71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Entrenamiento </a:t>
            </a:r>
            <a:r>
              <a:rPr lang="es-MX" dirty="0" err="1"/>
              <a:t>Accuracy</a:t>
            </a:r>
            <a:r>
              <a:rPr lang="es-MX" dirty="0"/>
              <a:t> (1.00): Significa que el modelo ha aprendido perfectamente los datos que le proporcionaste. </a:t>
            </a:r>
            <a:endParaRPr lang="es-MX" dirty="0" smtClean="0"/>
          </a:p>
          <a:p>
            <a:r>
              <a:rPr lang="es-MX" dirty="0" smtClean="0"/>
              <a:t>Es </a:t>
            </a:r>
            <a:r>
              <a:rPr lang="es-MX" dirty="0"/>
              <a:t>capaz de identificar sin errores los retrasos en tu base de datos actual</a:t>
            </a:r>
            <a:r>
              <a:rPr lang="es-MX" dirty="0" smtClean="0"/>
              <a:t>.</a:t>
            </a:r>
          </a:p>
          <a:p>
            <a:r>
              <a:rPr lang="es-MX" dirty="0" smtClean="0"/>
              <a:t>Prueba </a:t>
            </a:r>
            <a:r>
              <a:rPr lang="es-MX" dirty="0" err="1"/>
              <a:t>Accuracy</a:t>
            </a:r>
            <a:r>
              <a:rPr lang="es-MX" dirty="0"/>
              <a:t> (0.975): Esta es la métrica más importante. Indica que, cuando el modelo se enfrenta a datos que nunca ha visto antes (el 20% que reservamos para testear), acierta el 97.5% de las veces. Esto confirma que tu modelo no solo "memorizó", sino que aprendió a generalizar los patrones de los retrasos</a:t>
            </a:r>
            <a:r>
              <a:rPr lang="es-MX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10897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54978" y="651166"/>
            <a:ext cx="10515600" cy="4351338"/>
          </a:xfrm>
        </p:spPr>
        <p:txBody>
          <a:bodyPr/>
          <a:lstStyle/>
          <a:p>
            <a:r>
              <a:rPr lang="es-MX" dirty="0"/>
              <a:t>Precisión (1.00): Cuando tu modelo predice "Sí" (que habrá retraso), siempre tiene razón. No estás teniendo "falsas alarmas" (casos donde el modelo dice que habrá retraso y en realidad no ocurre).</a:t>
            </a:r>
          </a:p>
          <a:p>
            <a:r>
              <a:rPr lang="es-MX" dirty="0" err="1"/>
              <a:t>Recall</a:t>
            </a:r>
            <a:r>
              <a:rPr lang="es-MX" dirty="0"/>
              <a:t> (0.917): Esta métrica nos dice que el modelo es capaz de detectar el 91.7% de todos los retrasos reales. Es decir, de cada 100 retrasos que realmente ocurren, tu modelo logra "cazar" a 91 o 92. Es una cifra muy alta y segura.</a:t>
            </a:r>
          </a:p>
          <a:p>
            <a:r>
              <a:rPr lang="es-MX" dirty="0"/>
              <a:t>F1 Score (0.957): Es el equilibrio perfecto entre la precisión y el </a:t>
            </a:r>
            <a:r>
              <a:rPr lang="es-MX" dirty="0" err="1"/>
              <a:t>recall</a:t>
            </a:r>
            <a:r>
              <a:rPr lang="es-MX" dirty="0"/>
              <a:t>. Un valor cercano a 1 indica que el modelo no se inclina injustamente hacia una sola métrica, sino que es sólido en ambos aspectos.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68562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deberías estar satisfecho?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Fiabilidad: Un </a:t>
            </a:r>
            <a:r>
              <a:rPr lang="es-MX" dirty="0" err="1"/>
              <a:t>Accuracy</a:t>
            </a:r>
            <a:r>
              <a:rPr lang="es-MX" dirty="0"/>
              <a:t> de prueba del 97.5% es un estándar industrial muy alto. Significa que puedes confiar en la predicción que te dé la herramienta para planificar tu operación</a:t>
            </a:r>
            <a:r>
              <a:rPr lang="es-MX" dirty="0" smtClean="0"/>
              <a:t>.</a:t>
            </a:r>
          </a:p>
          <a:p>
            <a:r>
              <a:rPr lang="es-MX" dirty="0" smtClean="0"/>
              <a:t>Equilibrio</a:t>
            </a:r>
            <a:r>
              <a:rPr lang="es-MX" dirty="0"/>
              <a:t>: Al no ser 1.0 en todas las métricas de prueba (como pasaba antes), nos asegura que el modelo no tiene </a:t>
            </a:r>
            <a:r>
              <a:rPr lang="es-MX" dirty="0" err="1"/>
              <a:t>overfitting</a:t>
            </a:r>
            <a:r>
              <a:rPr lang="es-MX" dirty="0"/>
              <a:t> (sobreajuste), sino que tiene capacidad de adaptarse a nuevas situaciones</a:t>
            </a:r>
            <a:r>
              <a:rPr lang="es-MX" dirty="0" smtClean="0"/>
              <a:t>.</a:t>
            </a:r>
          </a:p>
          <a:p>
            <a:r>
              <a:rPr lang="es-MX" dirty="0" smtClean="0"/>
              <a:t>Utilidad</a:t>
            </a:r>
            <a:r>
              <a:rPr lang="es-MX" dirty="0"/>
              <a:t>: Con un </a:t>
            </a:r>
            <a:r>
              <a:rPr lang="es-MX" dirty="0" err="1"/>
              <a:t>Recall</a:t>
            </a:r>
            <a:r>
              <a:rPr lang="es-MX" dirty="0"/>
              <a:t> del 91.7%, el modelo es una excelente herramienta de prevención, ya que casi nunca dejará pasar un retraso sin avisarte.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7511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1000</Words>
  <Application>Microsoft Office PowerPoint</Application>
  <PresentationFormat>Panorámica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de Office</vt:lpstr>
      <vt:lpstr>Random Forest</vt:lpstr>
      <vt:lpstr>Random Forest (Bosque Aleatorio) </vt:lpstr>
      <vt:lpstr>Empecemos por entender el árbol de decisión</vt:lpstr>
      <vt:lpstr>Un árbol podría aprender algo como:</vt:lpstr>
      <vt:lpstr>Presentación de PowerPoint</vt:lpstr>
      <vt:lpstr>¿Cómo Random Forest resuelve ese problema?</vt:lpstr>
      <vt:lpstr>Votación:</vt:lpstr>
      <vt:lpstr>¿Cómo hace para que los árboles sean distintos?</vt:lpstr>
      <vt:lpstr>Paso B — Selección aleatoria de columnas</vt:lpstr>
      <vt:lpstr>Flujo completo del algoritmo</vt:lpstr>
      <vt:lpstr>Predicción (Clasificación)</vt:lpstr>
      <vt:lpstr>Predicción (Regresión)</vt:lpstr>
      <vt:lpstr>5. Ejemplo visual</vt:lpstr>
      <vt:lpstr>6. Parámetros importantes</vt:lpstr>
      <vt:lpstr>Presentación de PowerPoint</vt:lpstr>
      <vt:lpstr>Presentación de PowerPoint</vt:lpstr>
      <vt:lpstr>7. Ventajas</vt:lpstr>
      <vt:lpstr>8. Desventajas</vt:lpstr>
      <vt:lpstr>9. Ejemplo real (empresa de impresiones)</vt:lpstr>
      <vt:lpstr>Resultado:</vt:lpstr>
      <vt:lpstr>Diferencia rápida con otros algoritmos</vt:lpstr>
      <vt:lpstr>Evaluación de métricas</vt:lpstr>
      <vt:lpstr>Presentación de PowerPoint</vt:lpstr>
      <vt:lpstr>¿Por qué deberías estar satisfecho?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creator>Idat</dc:creator>
  <cp:lastModifiedBy>DOCENTE - VICTOR GUILLERMO ANDRADE SOTO</cp:lastModifiedBy>
  <cp:revision>8</cp:revision>
  <dcterms:created xsi:type="dcterms:W3CDTF">2026-06-25T13:10:33Z</dcterms:created>
  <dcterms:modified xsi:type="dcterms:W3CDTF">2026-06-25T16:50:01Z</dcterms:modified>
</cp:coreProperties>
</file>