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EF2C7-351B-BB4D-6FFB-E8F66CB28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096DC-FD42-B69E-A8B2-9DB0DCB55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47F239-AD44-B32B-4B60-EF34DF645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DF188D-B631-E4DB-1559-CFB3840BE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A179A9-8000-1A79-45BF-DE7C9E80B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92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20ECC-B668-C1FB-E78D-E7BAF7AD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F763FD-1F1B-923A-F196-F81B07F41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E6881F-A59A-0FB3-8B44-ED48F4DB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9D88E0-CD76-E7C2-BC88-96E576B7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47142D-01DA-4FA7-DB3B-D87E3EDC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956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4A46A-1877-6FA1-70C6-F66A622BD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31656C-6E4B-02A2-FE8C-34ABF960B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4B4F45-9155-EB80-C616-2254C910D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4EE8F-33A5-C907-8115-EB14C0609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C1DC0-AE1C-F8C0-8AA0-156EA5B3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946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75A1E-D725-3D3F-B6DB-B79DE57A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1871A-BFBB-E733-B226-69FACD9AC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E9A8AD-AD2C-4F54-0959-A0877BD72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CFACE7-26F3-7F66-BDBD-3FE919868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D588C8-81AC-28BD-D289-4B35853E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291F5A-CF17-1636-C747-2A91B88F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220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0C7FE-8141-B4B7-7947-C2D7038F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4AB7CA-A2DA-590F-CD05-A994F26D2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574AFF-8C2B-1D53-B999-E863BA009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418852-761B-3E2C-E55E-98D4B4FB9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4E1ACC-40D1-F51C-3417-5D9397AB3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419A24-C1B7-223F-58B4-A595410E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2E16542-A162-4422-6C17-9E4446DF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0999175-942D-9351-E877-BE6C88A4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745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636EA-54A5-5FC0-3CD7-C53EEBC0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FB2349-3B02-794F-39BA-BCC6BFAB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399FC8-0629-5780-49FA-ED20B568D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193598-FE84-8C47-9AE5-88CC58E8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23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E66358-35BD-0712-DB78-EE1EC83FF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2234CC-C6A7-8DDD-3C1D-C9A162D4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066B1D-B6DC-40A0-EF49-C3139F19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4315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FE018-346C-3D48-61DF-ADF504C3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0FEFFD-F5C1-4DD8-4F33-7CF34C6FC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6794E1-2FBB-AAB0-3323-EA767AB86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AB49C3-EB43-7565-54D9-C0581769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C77A6E-1834-7814-E060-EABAB764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D4495B-7D42-0248-B1ED-D18B5D742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4621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4E631-45EC-58C0-87AD-09B26AF1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91A4D5-4DBE-EAE4-D0C1-2F876ABF6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28D145-42F2-60EE-A616-8244E9EBA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368335-6B19-B52B-106D-0BF1BE57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0DD7D9-B029-EBDF-2BBC-9EC10F7AE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B14C5E-7AAB-5A75-57AD-19F65BDD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0816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5689D-8EC2-CF05-84D7-57440AAD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3C6E21-92E3-5E6E-3B96-96DF0BB3F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78AFE6-17D7-9225-635D-2203A422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4AEFBB-6382-D273-9C08-DDE139C3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19CDA1-D127-42E0-B4EF-0615BB56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001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A9FBF3-53C0-78D9-F60B-519CA1B5D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B2FF7F-64D8-1873-2DCD-27EB6E722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737352-BDE2-0EF5-23C9-DAD42AEE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96BC70-B2E9-ECEC-E2E2-3E3F9BF0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A87666-9D05-28FB-3132-0AA088A2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2441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ABFA69-D399-A32B-DD40-E955AAAD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673A6B-3BF7-8CF7-459F-C39863BC5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91E689-37CB-F6AF-1F86-478363ECC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85792-7935-4B0E-AB0C-E047B47CD340}" type="datetimeFigureOut">
              <a:rPr lang="es-PE" smtClean="0"/>
              <a:t>3/06/2026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A318B0-202E-7CCB-CB33-D387796FE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8DB95A-3087-5B03-EE77-67032BD2C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DEAFF-D7C3-427D-BB40-3D31B890B34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557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EE5AF-EC6F-4CB6-7E03-B5DD3A0C22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PREPARACIÓN DEL COMPONENTE DE MACHINE LEARNING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A6D972-5739-3854-92C8-276F176196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Identificación de Variables y Construcción del </a:t>
            </a:r>
            <a:r>
              <a:rPr lang="es-MX" dirty="0" err="1"/>
              <a:t>Dataset</a:t>
            </a:r>
            <a:endParaRPr lang="es-PE" dirty="0"/>
          </a:p>
          <a:p>
            <a:r>
              <a:rPr lang="es-PE" dirty="0"/>
              <a:t>Magíster Víctor Andrade Soto</a:t>
            </a:r>
          </a:p>
        </p:txBody>
      </p:sp>
    </p:spTree>
    <p:extLst>
      <p:ext uri="{BB962C8B-B14F-4D97-AF65-F5344CB8AC3E}">
        <p14:creationId xmlns:p14="http://schemas.microsoft.com/office/powerpoint/2010/main" val="217652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4FE4B-12BD-2193-58C4-8027A8B2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hicimos la semana pasada?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6648B3-D899-1ECC-A83A-1CE8303E1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✔ Definimos la arquitectura del software.</a:t>
            </a:r>
          </a:p>
          <a:p>
            <a:pPr marL="0" indent="0">
              <a:buNone/>
            </a:pPr>
            <a:r>
              <a:rPr lang="es-MX" dirty="0"/>
              <a:t>✔ Identificamos </a:t>
            </a:r>
            <a:r>
              <a:rPr lang="es-MX" dirty="0" err="1"/>
              <a:t>Frontend</a:t>
            </a:r>
            <a:r>
              <a:rPr lang="es-MX" dirty="0"/>
              <a:t>, </a:t>
            </a:r>
            <a:r>
              <a:rPr lang="es-MX" dirty="0" err="1"/>
              <a:t>Backend</a:t>
            </a:r>
            <a:r>
              <a:rPr lang="es-MX" dirty="0"/>
              <a:t>, Base de Datos y ML.</a:t>
            </a:r>
          </a:p>
          <a:p>
            <a:pPr marL="0" indent="0">
              <a:buNone/>
            </a:pPr>
            <a:r>
              <a:rPr lang="es-MX" dirty="0"/>
              <a:t>✔ Elaboramos el informe de arquitectura.</a:t>
            </a:r>
          </a:p>
          <a:p>
            <a:pPr marL="0" indent="0">
              <a:buNone/>
            </a:pPr>
            <a:r>
              <a:rPr lang="es-MX" dirty="0"/>
              <a:t>✔ Seleccionamos tecnologías.</a:t>
            </a:r>
          </a:p>
          <a:p>
            <a:pPr marL="0" indent="0">
              <a:buNone/>
            </a:pPr>
            <a:r>
              <a:rPr lang="es-MX" dirty="0"/>
              <a:t>Hoy iniciaremos el diseño del componente inteligente.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6802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F35E0-4151-FC84-7F33-AC0CBA9E6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Logro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6ADDE3-77AB-E225-D1CF-191E92701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Al finalizar la sesión, el estudiante identifica las variables de Machine </a:t>
            </a:r>
            <a:r>
              <a:rPr lang="es-MX" dirty="0" err="1"/>
              <a:t>Learning</a:t>
            </a:r>
            <a:r>
              <a:rPr lang="es-MX" dirty="0"/>
              <a:t> y diseña el </a:t>
            </a:r>
            <a:r>
              <a:rPr lang="es-MX" dirty="0" err="1"/>
              <a:t>dataset</a:t>
            </a:r>
            <a:r>
              <a:rPr lang="es-MX" dirty="0"/>
              <a:t> que utilizará en su proyecto empleando para ello la lluvia de ideas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5884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F186F-47AF-290F-41AB-AFBB714A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Saberes Previos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B85831-B560-3517-8A80-FF7794AD7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/>
              <a:t>Objetivos estratégicos.</a:t>
            </a:r>
          </a:p>
          <a:p>
            <a:pPr marL="0" indent="0">
              <a:buNone/>
            </a:pPr>
            <a:r>
              <a:rPr lang="es-PE" dirty="0" err="1"/>
              <a:t>KPIs</a:t>
            </a:r>
            <a:r>
              <a:rPr lang="es-PE" dirty="0"/>
              <a:t>.</a:t>
            </a:r>
          </a:p>
          <a:p>
            <a:pPr marL="0" indent="0">
              <a:buNone/>
            </a:pPr>
            <a:r>
              <a:rPr lang="es-PE" dirty="0"/>
              <a:t>Base de datos.</a:t>
            </a:r>
          </a:p>
          <a:p>
            <a:pPr marL="0" indent="0">
              <a:buNone/>
            </a:pPr>
            <a:r>
              <a:rPr lang="es-PE" dirty="0"/>
              <a:t>Casos de uso.</a:t>
            </a:r>
          </a:p>
          <a:p>
            <a:pPr marL="0" indent="0">
              <a:buNone/>
            </a:pPr>
            <a:r>
              <a:rPr lang="es-PE" dirty="0"/>
              <a:t>Conceptos básicos de Machine </a:t>
            </a:r>
            <a:r>
              <a:rPr lang="es-PE" dirty="0" err="1"/>
              <a:t>Learning</a:t>
            </a:r>
            <a:r>
              <a:rPr lang="es-P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937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BE6B6-68C7-C609-D0C2-D4A655D4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necesita un algoritmo de ML?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CAD2DC-79F4-75E3-467A-7A0AA871F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Todo algoritmo requiere:</a:t>
            </a:r>
          </a:p>
          <a:p>
            <a:pPr marL="457200" lvl="1" indent="0">
              <a:buNone/>
            </a:pPr>
            <a:r>
              <a:rPr lang="es-MX" dirty="0"/>
              <a:t>✔ Datos históricos.</a:t>
            </a:r>
          </a:p>
          <a:p>
            <a:pPr marL="457200" lvl="1" indent="0">
              <a:buNone/>
            </a:pPr>
            <a:r>
              <a:rPr lang="es-MX" dirty="0"/>
              <a:t>✔ Variables predictoras.</a:t>
            </a:r>
          </a:p>
          <a:p>
            <a:pPr marL="457200" lvl="1" indent="0">
              <a:buNone/>
            </a:pPr>
            <a:r>
              <a:rPr lang="es-MX" dirty="0"/>
              <a:t>✔ Variable objetivo.</a:t>
            </a:r>
          </a:p>
          <a:p>
            <a:pPr marL="457200" lvl="1" indent="0">
              <a:buNone/>
            </a:pPr>
            <a:r>
              <a:rPr lang="es-MX" dirty="0"/>
              <a:t>✔ Casos suficientes para aprender.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1189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94B8E-BAAC-B761-4CFC-F8BC9436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Identificación de Variables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BDAA30-6A59-4AA8-075F-78DB28D1C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Ejemplo: Biblioteca</a:t>
            </a:r>
          </a:p>
          <a:p>
            <a:pPr marL="0" indent="0">
              <a:buNone/>
            </a:pPr>
            <a:r>
              <a:rPr lang="es-MX" dirty="0"/>
              <a:t>Variables:</a:t>
            </a:r>
          </a:p>
          <a:p>
            <a:pPr marL="457200" lvl="1" indent="0">
              <a:buNone/>
            </a:pPr>
            <a:r>
              <a:rPr lang="es-MX" dirty="0"/>
              <a:t>Edad lector </a:t>
            </a:r>
          </a:p>
          <a:p>
            <a:pPr marL="457200" lvl="1" indent="0">
              <a:buNone/>
            </a:pPr>
            <a:r>
              <a:rPr lang="es-MX" dirty="0"/>
              <a:t>Carrera </a:t>
            </a:r>
          </a:p>
          <a:p>
            <a:pPr marL="457200" lvl="1" indent="0">
              <a:buNone/>
            </a:pPr>
            <a:r>
              <a:rPr lang="es-MX" dirty="0"/>
              <a:t>Frecuencia préstamo </a:t>
            </a:r>
          </a:p>
          <a:p>
            <a:pPr marL="457200" lvl="1" indent="0">
              <a:buNone/>
            </a:pPr>
            <a:r>
              <a:rPr lang="es-MX" dirty="0"/>
              <a:t>Cantidad libros </a:t>
            </a:r>
          </a:p>
          <a:p>
            <a:pPr marL="0" indent="0">
              <a:buNone/>
            </a:pPr>
            <a:r>
              <a:rPr lang="es-MX" dirty="0"/>
              <a:t>Variable objetivo:</a:t>
            </a:r>
          </a:p>
          <a:p>
            <a:pPr marL="457200" lvl="1" indent="0">
              <a:buNone/>
            </a:pPr>
            <a:r>
              <a:rPr lang="es-MX" dirty="0"/>
              <a:t>Probabilidad de retraso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3740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D8194-1870-C91B-D40C-517EC178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Relación KPI → Variable 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34DDE-DFAD-3CD6-79D1-76378A4FE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Ejemplo:</a:t>
            </a:r>
          </a:p>
          <a:p>
            <a:pPr marL="0" indent="0">
              <a:buNone/>
            </a:pPr>
            <a:r>
              <a:rPr lang="es-MX" dirty="0"/>
              <a:t>Objetivo estratégico:</a:t>
            </a:r>
          </a:p>
          <a:p>
            <a:pPr marL="457200" lvl="1" indent="0">
              <a:buNone/>
            </a:pPr>
            <a:r>
              <a:rPr lang="es-MX" dirty="0"/>
              <a:t>Reducir retrasos en devoluciones.</a:t>
            </a:r>
          </a:p>
          <a:p>
            <a:pPr marL="0" indent="0">
              <a:buNone/>
            </a:pPr>
            <a:r>
              <a:rPr lang="es-MX" dirty="0"/>
              <a:t>KPI:</a:t>
            </a:r>
          </a:p>
          <a:p>
            <a:pPr marL="457200" lvl="1" indent="0">
              <a:buNone/>
            </a:pPr>
            <a:r>
              <a:rPr lang="es-MX" dirty="0"/>
              <a:t>% devoluciones tardías.</a:t>
            </a:r>
          </a:p>
          <a:p>
            <a:pPr marL="0" indent="0">
              <a:buNone/>
            </a:pPr>
            <a:r>
              <a:rPr lang="es-MX" dirty="0"/>
              <a:t>Variable objetivo:</a:t>
            </a:r>
          </a:p>
          <a:p>
            <a:pPr marL="457200" lvl="1" indent="0">
              <a:buNone/>
            </a:pPr>
            <a:r>
              <a:rPr lang="es-MX" dirty="0"/>
              <a:t>Retraso (Sí / No)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78875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A5A45-D12F-0AF4-FCDE-AF2517D0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Tipos de Variables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80504F-5480-27F9-2C6E-176CBE9DD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b="1" dirty="0"/>
              <a:t>Numéricas</a:t>
            </a:r>
          </a:p>
          <a:p>
            <a:pPr marL="457200" lvl="1" indent="0" algn="just">
              <a:buNone/>
            </a:pPr>
            <a:r>
              <a:rPr lang="es-MX" dirty="0"/>
              <a:t>Edad </a:t>
            </a:r>
          </a:p>
          <a:p>
            <a:pPr marL="457200" lvl="1" indent="0" algn="just">
              <a:buNone/>
            </a:pPr>
            <a:r>
              <a:rPr lang="es-MX" dirty="0"/>
              <a:t>Ventas </a:t>
            </a:r>
          </a:p>
          <a:p>
            <a:pPr marL="457200" lvl="1" indent="0" algn="just">
              <a:buNone/>
            </a:pPr>
            <a:r>
              <a:rPr lang="es-MX" dirty="0"/>
              <a:t>Cantidad </a:t>
            </a:r>
          </a:p>
          <a:p>
            <a:pPr marL="0" indent="0" algn="just">
              <a:buNone/>
            </a:pPr>
            <a:r>
              <a:rPr lang="es-MX" b="1" dirty="0"/>
              <a:t>Categóricas</a:t>
            </a:r>
          </a:p>
          <a:p>
            <a:pPr marL="457200" lvl="1" indent="0" algn="just">
              <a:buNone/>
            </a:pPr>
            <a:r>
              <a:rPr lang="es-MX" dirty="0"/>
              <a:t>Sexo </a:t>
            </a:r>
          </a:p>
          <a:p>
            <a:pPr marL="457200" lvl="1" indent="0" algn="just">
              <a:buNone/>
            </a:pPr>
            <a:r>
              <a:rPr lang="es-MX" dirty="0"/>
              <a:t>Carrera </a:t>
            </a:r>
          </a:p>
          <a:p>
            <a:pPr marL="457200" lvl="1" indent="0" algn="just">
              <a:buNone/>
            </a:pPr>
            <a:r>
              <a:rPr lang="es-MX" dirty="0"/>
              <a:t>Categoría producto</a:t>
            </a:r>
          </a:p>
          <a:p>
            <a:pPr marL="0" indent="0" algn="just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4483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609DC-6BAC-4F31-C7E8-145D3A39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Construcción del </a:t>
            </a:r>
            <a:r>
              <a:rPr lang="es-PE" dirty="0" err="1"/>
              <a:t>Dataset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BF0CEA-B397-75AA-5FA0-8DF8E4241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43081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Cada fila representa un caso.</a:t>
            </a:r>
          </a:p>
          <a:p>
            <a:pPr marL="0" indent="0">
              <a:buNone/>
            </a:pPr>
            <a:r>
              <a:rPr lang="es-MX" dirty="0"/>
              <a:t>Ejemplo:</a:t>
            </a:r>
          </a:p>
          <a:p>
            <a:pPr marL="0" indent="0">
              <a:buNone/>
            </a:pPr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2DCF32-91E4-CF96-C170-D74EB40D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3642"/>
            <a:ext cx="10077662" cy="21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3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AFB59-7E66-BB06-821F-A9B41A82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Calidad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167A69-B3F7-498C-E19A-6E0D41D1E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/>
              <a:t>Revisar:</a:t>
            </a:r>
          </a:p>
          <a:p>
            <a:pPr marL="0" indent="0">
              <a:buNone/>
            </a:pPr>
            <a:r>
              <a:rPr lang="es-PE" dirty="0"/>
              <a:t>✔ Nulos</a:t>
            </a:r>
          </a:p>
          <a:p>
            <a:pPr marL="0" indent="0">
              <a:buNone/>
            </a:pPr>
            <a:r>
              <a:rPr lang="es-PE" dirty="0"/>
              <a:t>✔ Duplicados</a:t>
            </a:r>
          </a:p>
          <a:p>
            <a:pPr marL="0" indent="0">
              <a:buNone/>
            </a:pPr>
            <a:r>
              <a:rPr lang="es-PE" dirty="0"/>
              <a:t>✔ Valores atípicos</a:t>
            </a:r>
          </a:p>
          <a:p>
            <a:pPr marL="0" indent="0">
              <a:buNone/>
            </a:pPr>
            <a:r>
              <a:rPr lang="es-PE" dirty="0"/>
              <a:t>✔ Consistencia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5389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AA6AA-6B34-5C0B-97A8-5B7260E2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Espacio Práctico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88C02D-04B7-8C02-AE31-63B4AC04E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Cada grupo deberá:</a:t>
            </a:r>
          </a:p>
          <a:p>
            <a:pPr marL="457200" lvl="1" indent="0">
              <a:buNone/>
            </a:pPr>
            <a:r>
              <a:rPr lang="es-MX" dirty="0"/>
              <a:t>Identificar su variable objetivo. </a:t>
            </a:r>
          </a:p>
          <a:p>
            <a:pPr marL="457200" lvl="1" indent="0">
              <a:buNone/>
            </a:pPr>
            <a:r>
              <a:rPr lang="es-MX" dirty="0"/>
              <a:t>Identificar variables predictoras. </a:t>
            </a:r>
          </a:p>
          <a:p>
            <a:pPr marL="457200" lvl="1" indent="0">
              <a:buNone/>
            </a:pPr>
            <a:r>
              <a:rPr lang="es-MX" dirty="0"/>
              <a:t>Diseñar su </a:t>
            </a:r>
            <a:r>
              <a:rPr lang="es-MX" dirty="0" err="1"/>
              <a:t>dataset</a:t>
            </a:r>
            <a:r>
              <a:rPr lang="es-MX" dirty="0"/>
              <a:t>. </a:t>
            </a:r>
          </a:p>
          <a:p>
            <a:pPr marL="457200" lvl="1" indent="0">
              <a:buNone/>
            </a:pPr>
            <a:r>
              <a:rPr lang="es-MX" dirty="0"/>
              <a:t>Construir mínimo 30 registros.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0299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92C77-2EB0-0D47-3775-9353D671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Entregable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C4C830-B188-12B8-068C-9B1EF1BE4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Ver informe de biblioteca </a:t>
            </a:r>
            <a:r>
              <a:rPr lang="es-MX"/>
              <a:t>como ejemplo</a:t>
            </a:r>
            <a:endParaRPr lang="es-MX" dirty="0"/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47471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B2114-34BC-E57C-5412-F791077E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Utilidad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C3A68-947B-1C39-4A51-1BC60E0A2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Permite transformar un problema de negocio en un problema de Machine </a:t>
            </a:r>
            <a:r>
              <a:rPr lang="es-MX" dirty="0" err="1"/>
              <a:t>Learning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0692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C12D8-EF88-D9D5-C710-364E66F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Cierre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12C20E-3AE4-506E-0C3D-4DB25EB82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Sin datos adecuados no existe Machine </a:t>
            </a:r>
            <a:r>
              <a:rPr lang="es-MX" dirty="0" err="1"/>
              <a:t>Learning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La calidad del modelo depende de la calidad del </a:t>
            </a:r>
            <a:r>
              <a:rPr lang="es-MX" dirty="0" err="1"/>
              <a:t>dataset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144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296</Words>
  <Application>Microsoft Office PowerPoint</Application>
  <PresentationFormat>Panorámica</PresentationFormat>
  <Paragraphs>71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PREPARACIÓN DEL COMPONENTE DE MACHINE LEARNING</vt:lpstr>
      <vt:lpstr>¿Qué hicimos la semana pasada?</vt:lpstr>
      <vt:lpstr>Logro</vt:lpstr>
      <vt:lpstr>Saberes Previos</vt:lpstr>
      <vt:lpstr>¿Qué necesita un algoritmo de ML?</vt:lpstr>
      <vt:lpstr>Identificación de Variables</vt:lpstr>
      <vt:lpstr>Relación KPI → Variable Objetivo</vt:lpstr>
      <vt:lpstr>Tipos de Variables</vt:lpstr>
      <vt:lpstr>Construcción del Dataset</vt:lpstr>
      <vt:lpstr>Calidad de Datos</vt:lpstr>
      <vt:lpstr>Espacio Práctico</vt:lpstr>
      <vt:lpstr>Entregable</vt:lpstr>
      <vt:lpstr>Utilidad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DOCENTE - VICTOR GUILLERMO ANDRADE SOTO</dc:creator>
  <cp:lastModifiedBy>DOCENTE - VICTOR GUILLERMO ANDRADE SOTO</cp:lastModifiedBy>
  <cp:revision>3</cp:revision>
  <dcterms:created xsi:type="dcterms:W3CDTF">2026-06-03T12:04:45Z</dcterms:created>
  <dcterms:modified xsi:type="dcterms:W3CDTF">2026-06-03T12:23:59Z</dcterms:modified>
</cp:coreProperties>
</file>